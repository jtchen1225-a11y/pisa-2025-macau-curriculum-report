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9e9f9e25e4039" /><Relationship Type="http://schemas.openxmlformats.org/officeDocument/2006/relationships/extended-properties" Target="/docProps/app.xml" Id="R0cfea5270bab4cba" /><Relationship Type="http://schemas.openxmlformats.org/officeDocument/2006/relationships/officeDocument" Target="/ppt/presentation.xml" Id="R2b15c923e181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b22a7174924147"/>
  </p:sldMasterIdLst>
  <p:notesMasterIdLst>
    <p:notesMasterId xmlns:r="http://schemas.openxmlformats.org/officeDocument/2006/relationships" r:id="R5249f65e61a14d67"/>
  </p:notesMasterIdLst>
  <p:sldIdLst>
    <p:sldId xmlns:r="http://schemas.openxmlformats.org/officeDocument/2006/relationships" id="256" r:id="Ra5c6d322ee294f5f"/>
    <p:sldId xmlns:r="http://schemas.openxmlformats.org/officeDocument/2006/relationships" id="257" r:id="Ra21b28dd84b44e5a"/>
    <p:sldId xmlns:r="http://schemas.openxmlformats.org/officeDocument/2006/relationships" id="258" r:id="R2f7bcb27c00f455f"/>
    <p:sldId xmlns:r="http://schemas.openxmlformats.org/officeDocument/2006/relationships" id="259" r:id="Ra58c3debd6164ec0"/>
    <p:sldId xmlns:r="http://schemas.openxmlformats.org/officeDocument/2006/relationships" id="260" r:id="R1853e3c43e904a36"/>
    <p:sldId xmlns:r="http://schemas.openxmlformats.org/officeDocument/2006/relationships" id="261" r:id="R21495cee13584f80"/>
    <p:sldId xmlns:r="http://schemas.openxmlformats.org/officeDocument/2006/relationships" id="262" r:id="R78ea08433ca04a53"/>
    <p:sldId xmlns:r="http://schemas.openxmlformats.org/officeDocument/2006/relationships" id="263" r:id="Rdea8c74d8acc42f9"/>
    <p:sldId xmlns:r="http://schemas.openxmlformats.org/officeDocument/2006/relationships" id="264" r:id="Rc82104ec73274d57"/>
    <p:sldId xmlns:r="http://schemas.openxmlformats.org/officeDocument/2006/relationships" id="265" r:id="R153a73cd1e934319"/>
    <p:sldId xmlns:r="http://schemas.openxmlformats.org/officeDocument/2006/relationships" id="266" r:id="Reb57b6fc25214328"/>
    <p:sldId xmlns:r="http://schemas.openxmlformats.org/officeDocument/2006/relationships" id="267" r:id="R30cd948518a240be"/>
    <p:sldId xmlns:r="http://schemas.openxmlformats.org/officeDocument/2006/relationships" id="268" r:id="Rebc84b3225ea40ee"/>
    <p:sldId xmlns:r="http://schemas.openxmlformats.org/officeDocument/2006/relationships" id="269" r:id="Rf32edcfdd550458b"/>
    <p:sldId xmlns:r="http://schemas.openxmlformats.org/officeDocument/2006/relationships" id="270" r:id="R6d9f199788f54a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f28480a89044cb" /><Relationship Type="http://schemas.openxmlformats.org/officeDocument/2006/relationships/slideMaster" Target="/ppt/slideMasters/slideMaster1.xml" Id="R02b22a7174924147" /><Relationship Type="http://schemas.openxmlformats.org/officeDocument/2006/relationships/notesMaster" Target="/ppt/notesMasters/notesMaster1.xml" Id="R5249f65e61a14d67" /><Relationship Type="http://schemas.openxmlformats.org/officeDocument/2006/relationships/presProps" Target="/ppt/presProps.xml" Id="Rce6fbf2183ad4736" /><Relationship Type="http://schemas.openxmlformats.org/officeDocument/2006/relationships/tableStyles" Target="/ppt/tableStyles.xml" Id="R0deb033aa3a74eac" /><Relationship Type="http://schemas.openxmlformats.org/officeDocument/2006/relationships/slide" Target="/ppt/slides/slide1.xml" Id="Ra5c6d322ee294f5f" /><Relationship Type="http://schemas.openxmlformats.org/officeDocument/2006/relationships/slide" Target="/ppt/slides/slide2.xml" Id="Ra21b28dd84b44e5a" /><Relationship Type="http://schemas.openxmlformats.org/officeDocument/2006/relationships/slide" Target="/ppt/slides/slide3.xml" Id="R2f7bcb27c00f455f" /><Relationship Type="http://schemas.openxmlformats.org/officeDocument/2006/relationships/slide" Target="/ppt/slides/slide4.xml" Id="Ra58c3debd6164ec0" /><Relationship Type="http://schemas.openxmlformats.org/officeDocument/2006/relationships/slide" Target="/ppt/slides/slide5.xml" Id="R1853e3c43e904a36" /><Relationship Type="http://schemas.openxmlformats.org/officeDocument/2006/relationships/slide" Target="/ppt/slides/slide6.xml" Id="R21495cee13584f80" /><Relationship Type="http://schemas.openxmlformats.org/officeDocument/2006/relationships/slide" Target="/ppt/slides/slide7.xml" Id="R78ea08433ca04a53" /><Relationship Type="http://schemas.openxmlformats.org/officeDocument/2006/relationships/slide" Target="/ppt/slides/slide8.xml" Id="Rdea8c74d8acc42f9" /><Relationship Type="http://schemas.openxmlformats.org/officeDocument/2006/relationships/slide" Target="/ppt/slides/slide9.xml" Id="Rc82104ec73274d57" /><Relationship Type="http://schemas.openxmlformats.org/officeDocument/2006/relationships/slide" Target="/ppt/slides/slide10.xml" Id="R153a73cd1e934319" /><Relationship Type="http://schemas.openxmlformats.org/officeDocument/2006/relationships/slide" Target="/ppt/slides/slide11.xml" Id="Reb57b6fc25214328" /><Relationship Type="http://schemas.openxmlformats.org/officeDocument/2006/relationships/slide" Target="/ppt/slides/slide12.xml" Id="R30cd948518a240be" /><Relationship Type="http://schemas.openxmlformats.org/officeDocument/2006/relationships/slide" Target="/ppt/slides/slide13.xml" Id="Rebc84b3225ea40ee" /><Relationship Type="http://schemas.openxmlformats.org/officeDocument/2006/relationships/slide" Target="/ppt/slides/slide14.xml" Id="Rf32edcfdd550458b" /><Relationship Type="http://schemas.openxmlformats.org/officeDocument/2006/relationships/slide" Target="/ppt/slides/slide15.xml" Id="R6d9f199788f54a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bd188ba60e4a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622099f5d4526" /><Relationship Type="http://schemas.openxmlformats.org/officeDocument/2006/relationships/notesMaster" Target="/ppt/notesMasters/notesMaster1.xml" Id="R7f7f5d7aaa8f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21060ffb3d4ce3" /><Relationship Type="http://schemas.openxmlformats.org/officeDocument/2006/relationships/notesMaster" Target="/ppt/notesMasters/notesMaster1.xml" Id="R9b80f3a377234e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fe76fdd8124284" /><Relationship Type="http://schemas.openxmlformats.org/officeDocument/2006/relationships/notesMaster" Target="/ppt/notesMasters/notesMaster1.xml" Id="R3a4240fe00db45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1c65da3f6d4763" /><Relationship Type="http://schemas.openxmlformats.org/officeDocument/2006/relationships/notesMaster" Target="/ppt/notesMasters/notesMaster1.xml" Id="R07eb27c32b3741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c5da7464da4ea3" /><Relationship Type="http://schemas.openxmlformats.org/officeDocument/2006/relationships/notesMaster" Target="/ppt/notesMasters/notesMaster1.xml" Id="Rcb5b631b03dc4d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1422e77cf344f6" /><Relationship Type="http://schemas.openxmlformats.org/officeDocument/2006/relationships/notesMaster" Target="/ppt/notesMasters/notesMaster1.xml" Id="R66b57b858e7149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a29320e6b14540" /><Relationship Type="http://schemas.openxmlformats.org/officeDocument/2006/relationships/notesMaster" Target="/ppt/notesMasters/notesMaster1.xml" Id="Rd01b9fdb149140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4a7a93bfd4971" /><Relationship Type="http://schemas.openxmlformats.org/officeDocument/2006/relationships/notesMaster" Target="/ppt/notesMasters/notesMaster1.xml" Id="Rc8605ceae97649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3d5849be084a73" /><Relationship Type="http://schemas.openxmlformats.org/officeDocument/2006/relationships/notesMaster" Target="/ppt/notesMasters/notesMaster1.xml" Id="R8aefd926871a46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9701952c924ad8" /><Relationship Type="http://schemas.openxmlformats.org/officeDocument/2006/relationships/notesMaster" Target="/ppt/notesMasters/notesMaster1.xml" Id="Rc79151ee855d4d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c5a38a451b4a7a" /><Relationship Type="http://schemas.openxmlformats.org/officeDocument/2006/relationships/notesMaster" Target="/ppt/notesMasters/notesMaster1.xml" Id="R4195311730e946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41a26008914e53" /><Relationship Type="http://schemas.openxmlformats.org/officeDocument/2006/relationships/notesMaster" Target="/ppt/notesMasters/notesMaster1.xml" Id="R23ae829c4e604e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37aab348124809" /><Relationship Type="http://schemas.openxmlformats.org/officeDocument/2006/relationships/notesMaster" Target="/ppt/notesMasters/notesMaster1.xml" Id="Rfd59c53a317a42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16154a41c44fee" /><Relationship Type="http://schemas.openxmlformats.org/officeDocument/2006/relationships/notesMaster" Target="/ppt/notesMasters/notesMaster1.xml" Id="Re6e8d172d8ba41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2b5939102c4ff8" /><Relationship Type="http://schemas.openxmlformats.org/officeDocument/2006/relationships/notesMaster" Target="/ppt/notesMasters/notesMaster1.xml" Id="Rc4800a79c60345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  <a:p xmlns:a="http://schemas.openxmlformats.org/drawingml/2006/main">
            <a:r>
              <a:t>澳門特別行政區政府，澳門 PISA 2025：具備超越語言、面向未來的解難能力，8 September 2026: https://www.gov.mo/zh-hant/news/1264691/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  <a:p xmlns:a="http://schemas.openxmlformats.org/drawingml/2006/main">
            <a:r>
              <a:t>澳門特別行政區政府，澳門 PISA 2025：具備超越語言、面向未來的解難能力，8 September 2026: https://www.gov.mo/zh-hant/news/1264691/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  <a:p xmlns:a="http://schemas.openxmlformats.org/drawingml/2006/main">
            <a:r>
              <a:t>OECD Education GPS country profiles: https://gpseducation.oecd.org/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  <a:p xmlns:a="http://schemas.openxmlformats.org/drawingml/2006/main">
            <a:r>
              <a:t>OECD Education GPS, Macao (China), accessed 11 September 2026: https://gpseducation.oecd.org/CountryProfile?plotter=h5&amp;primaryCountry=MAC&amp;topic=PI&amp;treshold=10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澳門特別行政區政府，澳門 PISA 2025：具備超越語言、面向未來的解難能力，8 September 2026: https://www.gov.mo/zh-hant/news/1264691/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課程改革建議，依據本校 PISA 2025 分析報告整合。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課程改革建議，依據本校 PISA 2025 分析報告整合。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課程改革建議，依據本校 PISA 2025 分析報告整合。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OECD PISA 2025 Macau (China) Country Note, 8 September 2026: https://www.oecd.org/en/publications/pisa-2025-results-volume-i-country-notes_2d4ff9ea-en/macau-china_9815d707-en.html</a:t>
            </a:r>
          </a:p>
          <a:p xmlns:a="http://schemas.openxmlformats.org/drawingml/2006/main">
            <a:r>
              <a:t>澳門特別行政區政府，澳門 PISA 2025：具備超越語言、面向未來的解難能力，8 September 2026: https://www.gov.mo/zh-hant/news/1264691/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3b8daf7134d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26c16e6134b1b" /><Relationship Type="http://schemas.openxmlformats.org/officeDocument/2006/relationships/slideLayout" Target="/ppt/slideLayouts/slideLayout1.xml" Id="R206d7b6b28be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d7b6b28be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059c4df1d4349" /><Relationship Type="http://schemas.openxmlformats.org/officeDocument/2006/relationships/notesSlide" Target="/ppt/notesSlides/notesSlide1.xml" Id="Rcea86d3d702f41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821bbedc5455d" /><Relationship Type="http://schemas.openxmlformats.org/officeDocument/2006/relationships/notesSlide" Target="/ppt/notesSlides/notesSlide2.xml" Id="R04532cfb27ed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36b8ce62147d0" /><Relationship Type="http://schemas.openxmlformats.org/officeDocument/2006/relationships/chart" Target="/ppt/slides/charts/chart1.xml" Id="R545da851fe1d476e" /><Relationship Type="http://schemas.openxmlformats.org/officeDocument/2006/relationships/notesSlide" Target="/ppt/notesSlides/notesSlide3.xml" Id="Ra9d989c9d72d44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3f1e9bcc447d1" /><Relationship Type="http://schemas.openxmlformats.org/officeDocument/2006/relationships/chart" Target="/ppt/slides/charts/chart2.xml" Id="Ra3173ee77e04414c" /><Relationship Type="http://schemas.openxmlformats.org/officeDocument/2006/relationships/notesSlide" Target="/ppt/notesSlides/notesSlide4.xml" Id="Raff0dbc76d4442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24562d9144ab2" /><Relationship Type="http://schemas.openxmlformats.org/officeDocument/2006/relationships/chart" Target="/ppt/slides/charts/chart3.xml" Id="R75bb06e6de3344e7" /><Relationship Type="http://schemas.openxmlformats.org/officeDocument/2006/relationships/notesSlide" Target="/ppt/notesSlides/notesSlide5.xml" Id="R77969db8b79b48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62bf5f30f46cb" /><Relationship Type="http://schemas.openxmlformats.org/officeDocument/2006/relationships/notesSlide" Target="/ppt/notesSlides/notesSlide6.xml" Id="R5f314604467447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4fd0e0d664b39" /><Relationship Type="http://schemas.openxmlformats.org/officeDocument/2006/relationships/chart" Target="/ppt/slides/charts/chart4.xml" Id="R1fa550e39b554d4d" /><Relationship Type="http://schemas.openxmlformats.org/officeDocument/2006/relationships/notesSlide" Target="/ppt/notesSlides/notesSlide7.xml" Id="R9f1848a85d4446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67e08fb654718" /><Relationship Type="http://schemas.openxmlformats.org/officeDocument/2006/relationships/chart" Target="/ppt/slides/charts/chart5.xml" Id="R0b9707889e0b43a5" /><Relationship Type="http://schemas.openxmlformats.org/officeDocument/2006/relationships/notesSlide" Target="/ppt/notesSlides/notesSlide8.xml" Id="R54a079c6d45344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b40a3c3324f53" /><Relationship Type="http://schemas.openxmlformats.org/officeDocument/2006/relationships/notesSlide" Target="/ppt/notesSlides/notesSlide9.xml" Id="Rdef8b9e19bbf4c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e6a2ffc044e4b" /><Relationship Type="http://schemas.openxmlformats.org/officeDocument/2006/relationships/chart" Target="/ppt/slides/charts/chart6.xml" Id="Raf944019764b4d2c" /><Relationship Type="http://schemas.openxmlformats.org/officeDocument/2006/relationships/notesSlide" Target="/ppt/notesSlides/notesSlide10.xml" Id="Rfd7627655f0843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be6497d324dd4" /><Relationship Type="http://schemas.openxmlformats.org/officeDocument/2006/relationships/chart" Target="/ppt/slides/charts/chart7.xml" Id="R0b84da8d2391437b" /><Relationship Type="http://schemas.openxmlformats.org/officeDocument/2006/relationships/notesSlide" Target="/ppt/notesSlides/notesSlide11.xml" Id="Rafb2aee5575440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106a8cf7148db" /><Relationship Type="http://schemas.openxmlformats.org/officeDocument/2006/relationships/notesSlide" Target="/ppt/notesSlides/notesSlide12.xml" Id="Re530f0cf0d7442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dde77f5a3412a" /><Relationship Type="http://schemas.openxmlformats.org/officeDocument/2006/relationships/notesSlide" Target="/ppt/notesSlides/notesSlide13.xml" Id="R7f0bd35d191841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c4b199e524ea3" /><Relationship Type="http://schemas.openxmlformats.org/officeDocument/2006/relationships/notesSlide" Target="/ppt/notesSlides/notesSlide14.xml" Id="R2ec983e27c0546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7478763a74b61" /><Relationship Type="http://schemas.openxmlformats.org/officeDocument/2006/relationships/notesSlide" Target="/ppt/notesSlides/notesSlide15.xml" Id="Re5940ff7c0904f2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澳門與 OECD 平均分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澳門</c:v>
          </c:tx>
          <c:spPr>
            <a:solidFill xmlns:a="http://schemas.openxmlformats.org/drawingml/2006/main">
              <a:srgbClr val="226A8D"/>
            </a:solidFill>
          </c:spPr>
          <c:cat>
            <c:strRef>
              <c:f>'Chart Data'!$A$2:$A$5</c:f>
              <c:strCache>
                <c:ptCount val="4"/>
                <c:pt idx="0">
                  <c:v>科學</c:v>
                </c:pt>
                <c:pt idx="1">
                  <c:v>數學</c:v>
                </c:pt>
                <c:pt idx="2">
                  <c:v>閱讀</c:v>
                </c:pt>
                <c:pt idx="3">
                  <c:v>計算思維解難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541</c:v>
                </c:pt>
                <c:pt idx="1">
                  <c:v>549</c:v>
                </c:pt>
                <c:pt idx="2">
                  <c:v>501</c:v>
                </c:pt>
                <c:pt idx="3">
                  <c:v>572</c:v>
                </c:pt>
              </c:numCache>
            </c:numRef>
          </c:val>
        </c:ser>
        <c:ser>
          <c:idx val="1"/>
          <c:order val="1"/>
          <c:tx>
            <c:v>OECD 平均</c:v>
          </c:tx>
          <c:spPr>
            <a:solidFill xmlns:a="http://schemas.openxmlformats.org/drawingml/2006/main">
              <a:srgbClr val="E9EEF2"/>
            </a:solidFill>
          </c:spPr>
          <c:cat>
            <c:strRef>
              <c:f>'Chart Data'!$C$2:$C$5</c:f>
              <c:strCache>
                <c:ptCount val="4"/>
                <c:pt idx="0">
                  <c:v>科學</c:v>
                </c:pt>
                <c:pt idx="1">
                  <c:v>數學</c:v>
                </c:pt>
                <c:pt idx="2">
                  <c:v>閱讀</c:v>
                </c:pt>
                <c:pt idx="3">
                  <c:v>計算思維解難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482</c:v>
                </c:pt>
                <c:pt idx="1">
                  <c:v>463</c:v>
                </c:pt>
                <c:pt idx="2">
                  <c:v>461</c:v>
                </c:pt>
                <c:pt idx="3">
                  <c:v>500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東亞三範疇表現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科學</c:v>
          </c:tx>
          <c:spPr>
            <a:solidFill xmlns:a="http://schemas.openxmlformats.org/drawingml/2006/main">
              <a:srgbClr val="226A8D"/>
            </a:solidFill>
          </c:spPr>
          <c:cat>
            <c:strRef>
              <c:f>'Chart Data'!$A$2:$A$7</c:f>
              <c:strCache>
                <c:ptCount val="6"/>
                <c:pt idx="0">
                  <c:v>澳門</c:v>
                </c:pt>
                <c:pt idx="1">
                  <c:v>新加坡</c:v>
                </c:pt>
                <c:pt idx="2">
                  <c:v>日本</c:v>
                </c:pt>
                <c:pt idx="3">
                  <c:v>韓國</c:v>
                </c:pt>
                <c:pt idx="4">
                  <c:v>香港</c:v>
                </c:pt>
                <c:pt idx="5">
                  <c:v>中華台北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541</c:v>
                </c:pt>
                <c:pt idx="1">
                  <c:v>560</c:v>
                </c:pt>
                <c:pt idx="2">
                  <c:v>538</c:v>
                </c:pt>
                <c:pt idx="3">
                  <c:v>526</c:v>
                </c:pt>
                <c:pt idx="4">
                  <c:v>496</c:v>
                </c:pt>
                <c:pt idx="5">
                  <c:v>540</c:v>
                </c:pt>
              </c:numCache>
            </c:numRef>
          </c:val>
        </c:ser>
        <c:ser>
          <c:idx val="1"/>
          <c:order val="1"/>
          <c:tx>
            <c:v>數學</c:v>
          </c:tx>
          <c:spPr>
            <a:solidFill xmlns:a="http://schemas.openxmlformats.org/drawingml/2006/main">
              <a:srgbClr val="43A6B8"/>
            </a:solidFill>
          </c:spPr>
          <c:cat>
            <c:strRef>
              <c:f>'Chart Data'!$C$2:$C$7</c:f>
              <c:strCache>
                <c:ptCount val="6"/>
                <c:pt idx="0">
                  <c:v>澳門</c:v>
                </c:pt>
                <c:pt idx="1">
                  <c:v>新加坡</c:v>
                </c:pt>
                <c:pt idx="2">
                  <c:v>日本</c:v>
                </c:pt>
                <c:pt idx="3">
                  <c:v>韓國</c:v>
                </c:pt>
                <c:pt idx="4">
                  <c:v>香港</c:v>
                </c:pt>
                <c:pt idx="5">
                  <c:v>中華台北</c:v>
                </c:pt>
              </c:strCache>
            </c:strRef>
          </c:cat>
          <c:val>
            <c:numRef>
              <c:f>'Chart Data'!$D$2:$D$7</c:f>
              <c:numCache>
                <c:formatCode>0</c:formatCode>
                <c:ptCount val="6"/>
                <c:pt idx="0">
                  <c:v>549</c:v>
                </c:pt>
                <c:pt idx="1">
                  <c:v>563</c:v>
                </c:pt>
                <c:pt idx="2">
                  <c:v>525</c:v>
                </c:pt>
                <c:pt idx="3">
                  <c:v>522</c:v>
                </c:pt>
                <c:pt idx="4">
                  <c:v>522</c:v>
                </c:pt>
                <c:pt idx="5">
                  <c:v>546</c:v>
                </c:pt>
              </c:numCache>
            </c:numRef>
          </c:val>
        </c:ser>
        <c:ser>
          <c:idx val="2"/>
          <c:order val="2"/>
          <c:tx>
            <c:v>閱讀</c:v>
          </c:tx>
          <c:spPr>
            <a:solidFill xmlns:a="http://schemas.openxmlformats.org/drawingml/2006/main">
              <a:srgbClr val="D66A3A"/>
            </a:solidFill>
          </c:spPr>
          <c:cat>
            <c:strRef>
              <c:f>'Chart Data'!$E$2:$E$7</c:f>
              <c:strCache>
                <c:ptCount val="6"/>
                <c:pt idx="0">
                  <c:v>澳門</c:v>
                </c:pt>
                <c:pt idx="1">
                  <c:v>新加坡</c:v>
                </c:pt>
                <c:pt idx="2">
                  <c:v>日本</c:v>
                </c:pt>
                <c:pt idx="3">
                  <c:v>韓國</c:v>
                </c:pt>
                <c:pt idx="4">
                  <c:v>香港</c:v>
                </c:pt>
                <c:pt idx="5">
                  <c:v>中華台北</c:v>
                </c:pt>
              </c:strCache>
            </c:strRef>
          </c:cat>
          <c:val>
            <c:numRef>
              <c:f>'Chart Data'!$F$2:$F$7</c:f>
              <c:numCache>
                <c:formatCode>0</c:formatCode>
                <c:ptCount val="6"/>
                <c:pt idx="0">
                  <c:v>501</c:v>
                </c:pt>
                <c:pt idx="1">
                  <c:v>535</c:v>
                </c:pt>
                <c:pt idx="2">
                  <c:v>503</c:v>
                </c:pt>
                <c:pt idx="3">
                  <c:v>501</c:v>
                </c:pt>
                <c:pt idx="4">
                  <c:v>480</c:v>
                </c:pt>
                <c:pt idx="5">
                  <c:v>508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高低表現學生比例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低表現學生</c:v>
          </c:tx>
          <c:spPr>
            <a:solidFill xmlns:a="http://schemas.openxmlformats.org/drawingml/2006/main">
              <a:srgbClr val="D66A3A"/>
            </a:solidFill>
          </c:spPr>
          <c:cat>
            <c:strRef>
              <c:f>'Chart Data'!$A$2:$A$4</c:f>
              <c:strCache>
                <c:ptCount val="3"/>
                <c:pt idx="0">
                  <c:v>科學</c:v>
                </c:pt>
                <c:pt idx="1">
                  <c:v>數學</c:v>
                </c:pt>
                <c:pt idx="2">
                  <c:v>閱讀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7.9</c:v>
                </c:pt>
                <c:pt idx="1">
                  <c:v>9.7</c:v>
                </c:pt>
                <c:pt idx="2">
                  <c:v>15.3</c:v>
                </c:pt>
              </c:numCache>
            </c:numRef>
          </c:val>
        </c:ser>
        <c:ser>
          <c:idx val="1"/>
          <c:order val="1"/>
          <c:tx>
            <c:v>高表現學生</c:v>
          </c:tx>
          <c:spPr>
            <a:solidFill xmlns:a="http://schemas.openxmlformats.org/drawingml/2006/main">
              <a:srgbClr val="2D7C69"/>
            </a:solidFill>
          </c:spPr>
          <c:cat>
            <c:strRef>
              <c:f>'Chart Data'!$C$2:$C$4</c:f>
              <c:strCache>
                <c:ptCount val="3"/>
                <c:pt idx="0">
                  <c:v>科學</c:v>
                </c:pt>
                <c:pt idx="1">
                  <c:v>數學</c:v>
                </c:pt>
                <c:pt idx="2">
                  <c:v>閱讀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14.5</c:v>
                </c:pt>
                <c:pt idx="1">
                  <c:v>28.8</c:v>
                </c:pt>
                <c:pt idx="2">
                  <c:v>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科學社經背景差距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科學社經背景四分位差距</c:v>
          </c:tx>
          <c:spPr>
            <a:solidFill xmlns:a="http://schemas.openxmlformats.org/drawingml/2006/main">
              <a:srgbClr val="226A8D"/>
            </a:solidFill>
          </c:spPr>
          <c:cat>
            <c:strRef>
              <c:f>'Chart Data'!$A$2:$A$3</c:f>
              <c:strCache>
                <c:ptCount val="2"/>
                <c:pt idx="0">
                  <c:v>澳門</c:v>
                </c:pt>
                <c:pt idx="1">
                  <c:v>OECD 平均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45</c:v>
                </c:pt>
                <c:pt idx="1">
                  <c:v>84.5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學習投入指標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澳門</c:v>
          </c:tx>
          <c:spPr>
            <a:solidFill xmlns:a="http://schemas.openxmlformats.org/drawingml/2006/main">
              <a:srgbClr val="226A8D"/>
            </a:solidFill>
          </c:spPr>
          <c:cat>
            <c:strRef>
              <c:f>'Chart Data'!$A$2:$A$7</c:f>
              <c:strCache>
                <c:ptCount val="6"/>
                <c:pt idx="0">
                  <c:v>喜歡學新事物</c:v>
                </c:pt>
                <c:pt idx="1">
                  <c:v>成長思維</c:v>
                </c:pt>
                <c:pt idx="2">
                  <c:v>規劃學習</c:v>
                </c:pt>
                <c:pt idx="3">
                  <c:v>檢查理解</c:v>
                </c:pt>
                <c:pt idx="4">
                  <c:v>歸屬感</c:v>
                </c:pt>
                <c:pt idx="5">
                  <c:v>同儕接納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58.1</c:v>
                </c:pt>
                <c:pt idx="1">
                  <c:v>45</c:v>
                </c:pt>
                <c:pt idx="2">
                  <c:v>27</c:v>
                </c:pt>
                <c:pt idx="3">
                  <c:v>32</c:v>
                </c:pt>
                <c:pt idx="4">
                  <c:v>78.1</c:v>
                </c:pt>
                <c:pt idx="5">
                  <c:v>66.1</c:v>
                </c:pt>
              </c:numCache>
            </c:numRef>
          </c:val>
        </c:ser>
        <c:ser>
          <c:idx val="1"/>
          <c:order val="1"/>
          <c:tx>
            <c:v>OECD 平均</c:v>
          </c:tx>
          <c:spPr>
            <a:solidFill xmlns:a="http://schemas.openxmlformats.org/drawingml/2006/main">
              <a:srgbClr val="E9EEF2"/>
            </a:solidFill>
          </c:spPr>
          <c:cat>
            <c:strRef>
              <c:f>'Chart Data'!$C$2:$C$7</c:f>
              <c:strCache>
                <c:ptCount val="6"/>
                <c:pt idx="0">
                  <c:v>喜歡學新事物</c:v>
                </c:pt>
                <c:pt idx="1">
                  <c:v>成長思維</c:v>
                </c:pt>
                <c:pt idx="2">
                  <c:v>規劃學習</c:v>
                </c:pt>
                <c:pt idx="3">
                  <c:v>檢查理解</c:v>
                </c:pt>
                <c:pt idx="4">
                  <c:v>歸屬感</c:v>
                </c:pt>
                <c:pt idx="5">
                  <c:v>同儕接納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68.8</c:v>
                </c:pt>
                <c:pt idx="1">
                  <c:v>69</c:v>
                </c:pt>
                <c:pt idx="2">
                  <c:v>37</c:v>
                </c:pt>
                <c:pt idx="3">
                  <c:v>49</c:v>
                </c:pt>
                <c:pt idx="4">
                  <c:v>76.2</c:v>
                </c:pt>
                <c:pt idx="5">
                  <c:v>83.1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AI 使用與評估經驗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澳門</c:v>
          </c:tx>
          <c:spPr>
            <a:solidFill xmlns:a="http://schemas.openxmlformats.org/drawingml/2006/main">
              <a:srgbClr val="226A8D"/>
            </a:solidFill>
          </c:spPr>
          <c:cat>
            <c:strRef>
              <c:f>'Chart Data'!$A$2:$A$6</c:f>
              <c:strCache>
                <c:ptCount val="5"/>
                <c:pt idx="0">
                  <c:v>每週使用 AI 協助</c:v>
                </c:pt>
                <c:pt idx="1">
                  <c:v>初步研究</c:v>
                </c:pt>
                <c:pt idx="2">
                  <c:v>摘要資料</c:v>
                </c:pt>
                <c:pt idx="3">
                  <c:v>草擬作業</c:v>
                </c:pt>
                <c:pt idx="4">
                  <c:v>學過評估 AI 資訊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67</c:v>
                </c:pt>
                <c:pt idx="1">
                  <c:v>38</c:v>
                </c:pt>
                <c:pt idx="2">
                  <c:v>41</c:v>
                </c:pt>
                <c:pt idx="3">
                  <c:v>40</c:v>
                </c:pt>
                <c:pt idx="4">
                  <c:v>74.5</c:v>
                </c:pt>
              </c:numCache>
            </c:numRef>
          </c:val>
        </c:ser>
        <c:ser>
          <c:idx val="1"/>
          <c:order val="1"/>
          <c:tx>
            <c:v>OECD 平均</c:v>
          </c:tx>
          <c:spPr>
            <a:solidFill xmlns:a="http://schemas.openxmlformats.org/drawingml/2006/main">
              <a:srgbClr val="E9EEF2"/>
            </a:solidFill>
          </c:spPr>
          <c:cat>
            <c:strRef>
              <c:f>'Chart Data'!$C$2:$C$6</c:f>
              <c:strCache>
                <c:ptCount val="5"/>
                <c:pt idx="0">
                  <c:v>每週使用 AI 協助</c:v>
                </c:pt>
                <c:pt idx="1">
                  <c:v>初步研究</c:v>
                </c:pt>
                <c:pt idx="2">
                  <c:v>摘要資料</c:v>
                </c:pt>
                <c:pt idx="3">
                  <c:v>草擬作業</c:v>
                </c:pt>
                <c:pt idx="4">
                  <c:v>學過評估 AI 資訊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46</c:v>
                </c:pt>
                <c:pt idx="1">
                  <c:v>31</c:v>
                </c:pt>
                <c:pt idx="2">
                  <c:v>30</c:v>
                </c:pt>
                <c:pt idx="3">
                  <c:v>29</c:v>
                </c:pt>
                <c:pt idx="4">
                  <c:v>62.6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JhengHei"/>
                <a:ea typeface="Microsoft JhengHei"/>
                <a:cs typeface="Microsoft JhengHei"/>
              </a:rPr>
              <a:t>數碼分心比例與分數關聯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澳門</c:v>
          </c:tx>
          <c:spPr>
            <a:solidFill xmlns:a="http://schemas.openxmlformats.org/drawingml/2006/main">
              <a:srgbClr val="D66A3A"/>
            </a:solidFill>
          </c:spPr>
          <c:cat>
            <c:strRef>
              <c:f>'Chart Data'!$A$2:$A$3</c:f>
              <c:strCache>
                <c:ptCount val="2"/>
                <c:pt idx="0">
                  <c:v>科學課受數碼裝置分心</c:v>
                </c:pt>
                <c:pt idx="1">
                  <c:v>分心與科學分數的關聯幅度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13</c:v>
                </c:pt>
                <c:pt idx="1">
                  <c:v>24</c:v>
                </c:pt>
              </c:numCache>
            </c:numRef>
          </c:val>
        </c:ser>
        <c:ser>
          <c:idx val="1"/>
          <c:order val="1"/>
          <c:tx>
            <c:v>OECD 平均</c:v>
          </c:tx>
          <c:spPr>
            <a:solidFill xmlns:a="http://schemas.openxmlformats.org/drawingml/2006/main">
              <a:srgbClr val="E9EEF2"/>
            </a:solidFill>
          </c:spPr>
          <c:cat>
            <c:strRef>
              <c:f>'Chart Data'!$C$2:$C$3</c:f>
              <c:strCache>
                <c:ptCount val="2"/>
                <c:pt idx="0">
                  <c:v>科學課受數碼裝置分心</c:v>
                </c:pt>
                <c:pt idx="1">
                  <c:v>分心與科學分數的關聯幅度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28</c:v>
                </c:pt>
                <c:pt idx="1">
                  <c:v>11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72554-3EF3-4174-AC2D-73E88747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PISA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EDEEB-D5C9-476F-9092-ADCFB44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從國際成績到校本課程改革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3068C-B2E4-4FF4-9C19-7ECDD554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行政會議簡報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6F157-18C2-4BBB-9B6F-4D57CBF4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重點：閱讀、數學差距、學習投入、AI 素養與 P1–S6 能力進階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C777A-C4E0-4F9D-B47D-AB2160B3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資料基線：OECD PISA 2025 與澳門教青局公開資料</a:t>
            </a:r>
          </a:p>
        </p:txBody>
      </p:sp>
    </p:spTree>
    <p:extLst>
      <p:ext uri="{BB962C8B-B14F-4D97-AF65-F5344CB8AC3E}">
        <p14:creationId xmlns:p14="http://schemas.microsoft.com/office/powerpoint/2010/main" val="1405702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171C6-277D-4B3D-A209-7C30226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行政會議需要作出的判斷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68288-9771-4C81-A48C-63DFA16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71136-972C-419D-85CA-4137B779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澳門保持高平均表現，但閱讀回落及數學差距擴大，顯示課程改革不能只追求平均分。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93A12-F7BF-4CBF-855F-E6AD8674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01  以跨學科閱讀和證據推理作為共同課程責任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3FDD-67BA-4CFE-9D46-074AEBC7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02  建立 P1–S6 能力進階，讓課程、教學與評核使用同一套語言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BF294-69D6-4270-8112-070F7B19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03  以校本審計和學生作品檢視落實程度，再安排資源與專業發展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312D3-DAA9-4D0C-830C-7DC1B66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建議今日確認：改革範圍、牽頭人、首輪試點年級及 12 個月檢核節點。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B6216-C5FF-4D8C-A990-E24D4B5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會議輸出：一項共同能力框架、一個審計週期、一組可追蹤指標</a:t>
            </a:r>
          </a:p>
        </p:txBody>
      </p:sp>
    </p:spTree>
    <p:extLst>
      <p:ext uri="{BB962C8B-B14F-4D97-AF65-F5344CB8AC3E}">
        <p14:creationId xmlns:p14="http://schemas.microsoft.com/office/powerpoint/2010/main" val="1595968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D618B-A977-4926-8D7E-69D3A6E9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澳門四個評核範疇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5FE74-4470-4615-8C9D-94CABEF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1333500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5da851fe1d476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A0960-C7B8-4D4D-A38D-702ECC35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2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平均表現的訊息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EA685-029F-4C70-94B3-033ECF1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四個範疇均高於 OECD 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計算思維解難為最明顯優勢。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平均分不能顯示高低能力學生之間的變化。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8F5AF-DFAA-4DD8-8667-63A08BF6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分數：澳門 541、549、501、572；OECD 平均 482、463、461、500</a:t>
            </a:r>
          </a:p>
        </p:txBody>
      </p:sp>
    </p:spTree>
    <p:extLst>
      <p:ext uri="{BB962C8B-B14F-4D97-AF65-F5344CB8AC3E}">
        <p14:creationId xmlns:p14="http://schemas.microsoft.com/office/powerpoint/2010/main" val="586246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BAF7F-3E85-4270-8114-7295CB5A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東亞參照顯示閱讀仍是相對短板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66631-8D8F-4608-B429-92939077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285875"/>
          <a:ext xmlns:a="http://schemas.openxmlformats.org/drawingml/2006/main" cx="85725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73ee77e04414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D6378-9C75-4EF6-9C6A-C8DD56D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8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行政含意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4FE05-4FC1-4D2A-858E-D5381ECF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0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澳門數學與科學具競爭力。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閱讀表現接近日本與韓國，但與新加坡仍有明顯距離。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閱讀需要納入所有科組的課程審計。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E5861-06F2-410D-A1EF-C85C32A1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東亞比較使用各地 PISA 2025 平均分</a:t>
            </a:r>
          </a:p>
        </p:txBody>
      </p:sp>
    </p:spTree>
    <p:extLst>
      <p:ext uri="{BB962C8B-B14F-4D97-AF65-F5344CB8AC3E}">
        <p14:creationId xmlns:p14="http://schemas.microsoft.com/office/powerpoint/2010/main" val="987179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A926A-0CC2-4540-B2F6-642F3D80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平均分以外的學生分布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E0914-FF04-4019-8E59-779D486D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23900" y="142875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bb06e6de3344e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B0C63-C4BE-44B4-BC5F-E4C70BE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15.3%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3B0E4-51EE-4AF2-9718-9EB0E3E3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479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閱讀低表現學生比例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CFA28-38C6-4692-8C16-FF5A7E20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051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28.8%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3AD53-9DD0-4342-B10F-F8DD886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33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數學高表現學生比例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A3A57-FE38-413D-A071-25FD1345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625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課程需同時處理基礎保障與高階延伸。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06FE7-73D3-42AA-93F8-5A95225C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比例以 OECD 國家說明所列 proficiency levels 計算</a:t>
            </a:r>
          </a:p>
        </p:txBody>
      </p:sp>
    </p:spTree>
    <p:extLst>
      <p:ext uri="{BB962C8B-B14F-4D97-AF65-F5344CB8AC3E}">
        <p14:creationId xmlns:p14="http://schemas.microsoft.com/office/powerpoint/2010/main" val="982390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CA14B-5043-4117-A1D2-95075A47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閱讀表現較 2022 年下降 9 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D018D-6E88-4F91-AF80-B7B4F21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3955B-E942-45A5-9A9C-8BDCAA1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501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3E44C-EB8A-4E5F-ACD3-0EFBC025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PISA 2025 閱讀平均分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6CC86-C6EA-466D-8054-B22486EA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47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B94747"/>
                </a:solidFill>
                <a:latin typeface="Microsoft JhengHei"/>
                <a:ea typeface="Microsoft JhengHei"/>
                <a:cs typeface="Microsoft JhengHei"/>
              </a:rPr>
              <a:t>下降 9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8A058-433E-49C3-99E9-8FAA575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相對 PISA 2022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36BDC-70C2-44E0-B224-D6A95F23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課程問題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7E276-A356-4E09-9F1B-3158824B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學生是否能在長文本、圖表、數據與多來源材料之間建立證據鏈？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ADA44-D929-4D68-848D-2271C65B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審計焦點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6B9E1-05B1-49B3-808E-536E7F9B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各科評核是否要求定位證據、比較來源、解釋推論和辨識不確定性？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11613-8B80-4860-A408-94AE49F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閱讀不只屬於語文科，亦影響科學、數學與人文科的題意理解和論證</a:t>
            </a:r>
          </a:p>
        </p:txBody>
      </p:sp>
    </p:spTree>
    <p:extLst>
      <p:ext uri="{BB962C8B-B14F-4D97-AF65-F5344CB8AC3E}">
        <p14:creationId xmlns:p14="http://schemas.microsoft.com/office/powerpoint/2010/main" val="907423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C4FAF-495C-413B-B1CB-F7B8DE8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公平優勢需要配合差距監測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3BEE9-6C38-4199-9E29-BE4282D2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5619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a550e39b554d4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FECE2-A976-4BF1-B317-683B40B8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19%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BA492-8C5A-4060-BB5E-721FAD89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處境不利學生屬國內韌性學生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98B20-3304-4323-A3E6-514FB05D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3.7% 至 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B0577-56C3-4459-A9D5-7343384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ESCS 對科學表現差異的解釋比例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B7112-0C1D-483F-B72A-1F47B547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行政重點：保留公平優勢，同時追蹤數學高低分差距。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A5A2C-52D7-4E61-AA17-97FD50AF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OECD 平均社經差距約 84 至 85 分；澳門為 45 分</a:t>
            </a:r>
          </a:p>
        </p:txBody>
      </p:sp>
    </p:spTree>
    <p:extLst>
      <p:ext uri="{BB962C8B-B14F-4D97-AF65-F5344CB8AC3E}">
        <p14:creationId xmlns:p14="http://schemas.microsoft.com/office/powerpoint/2010/main" val="1133421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2EAE6-DA63-4DBB-B281-22A2C690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學習投入指標呈現混合訊號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94AEA-A56D-486C-9935-E379F866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47700" y="1285875"/>
          <a:ext xmlns:a="http://schemas.openxmlformats.org/drawingml/2006/main" cx="8572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9707889e0b43a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54942-C794-4E09-B6B2-C6C919E9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解讀原則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93FA-6007-48B5-9735-FEB87EE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200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歸屬感高於 OECD 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自我調節學習及成長思維偏弱。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不能把所有投入問題概括為學生欠缺歸屬感。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1657B-9DC4-4DD4-9790-DC1555B2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數值為同意或報告相關行為的學生比例</a:t>
            </a:r>
          </a:p>
        </p:txBody>
      </p:sp>
    </p:spTree>
    <p:extLst>
      <p:ext uri="{BB962C8B-B14F-4D97-AF65-F5344CB8AC3E}">
        <p14:creationId xmlns:p14="http://schemas.microsoft.com/office/powerpoint/2010/main" val="1135092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459E7-13C7-4F0A-AB23-61BB244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計算思維解難是可轉移優勢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01C20-7359-47E7-B41A-458ED780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6CF00-B477-4C25-A9D9-7A10257F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572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997A2-6031-4059-9D0C-DB64637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計算思維解難平均分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D17E1-B99A-4345-A273-97A567D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53.7%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D6A9-376C-45BD-B3E4-A803255F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達高表現水平的學生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38794-DD3F-4C2E-A98D-67134A9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可轉移到校本課程的核心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CE264-6C2F-4602-9772-D390D034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把複雜問題拆解為步驟</a:t>
            </a:r>
          </a:p>
          <a:p xmlns:a="http://schemas.openxmlformats.org/drawingml/2006/main">
            <a:pPr>
              <a:def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建立及測試規則</a:t>
            </a:r>
          </a:p>
          <a:p xmlns:a="http://schemas.openxmlformats.org/drawingml/2006/main">
            <a:pPr>
              <a:def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使用數據修正方案</a:t>
            </a:r>
          </a:p>
          <a:p xmlns:a="http://schemas.openxmlformats.org/drawingml/2006/main">
            <a:pPr>
              <a:def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解釋方法的限制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D30BD-88DC-4C01-A69E-0F16919A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課程審計問題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FDAA2-F01D-4E2B-AA25-0D368F0E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哪些年級與科目讓學生反覆經歷這些思考過程？學生作品能否顯示方法、證據與修正？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9420C-DA2B-4B80-8255-11DA5CC8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計算思維解難需成為跨學科任務設計資源，而非單一資訊科技內容</a:t>
            </a:r>
          </a:p>
        </p:txBody>
      </p:sp>
    </p:spTree>
    <p:extLst>
      <p:ext uri="{BB962C8B-B14F-4D97-AF65-F5344CB8AC3E}">
        <p14:creationId xmlns:p14="http://schemas.microsoft.com/office/powerpoint/2010/main" val="1489402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DC155-EADE-491B-8A3B-BE241E24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AI 使用普遍，驗證能力需要進入評核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4753A-7B61-4EE5-91E8-53FEA71E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44019764b4d2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665AD-6A64-4546-B11F-B9D17EB4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校本要求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2229B-AEEE-4081-83AC-57C10437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保留提示詞與版本</a:t>
            </a:r>
          </a:p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核對原始來源</a:t>
            </a:r>
          </a:p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指出 AI 回答的限制</a:t>
            </a:r>
          </a:p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以學生口頭或書面解釋確認理解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298A3-024B-445A-AC51-EFB83C7B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評核需要看見驗證過程。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E845A-C448-423C-A603-0F28A55D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比例為學生自陳使用或學習經驗，不能直接等同能力表現</a:t>
            </a:r>
          </a:p>
        </p:txBody>
      </p:sp>
    </p:spTree>
    <p:extLst>
      <p:ext uri="{BB962C8B-B14F-4D97-AF65-F5344CB8AC3E}">
        <p14:creationId xmlns:p14="http://schemas.microsoft.com/office/powerpoint/2010/main" val="673623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14330-5DFF-4BFB-9BC1-53B37B58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數碼分心較少，但影響幅度值得關注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90B74-70AD-45B4-BD97-E6F966C6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42950" y="1571625"/>
          <a:ext xmlns:a="http://schemas.openxmlformats.org/drawingml/2006/main" cx="6477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84da8d2391437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0CD58-57E6-4281-99D1-B58DA0F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13%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6F1AF-ADED-4736-99F3-21499BCC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澳門學生報告分心的比例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899C6-F04B-4D06-80BA-5490BB13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47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94747"/>
                </a:solidFill>
                <a:latin typeface="Microsoft JhengHei"/>
                <a:ea typeface="Microsoft JhengHei"/>
                <a:cs typeface="Microsoft JhengHei"/>
              </a:rPr>
              <a:t>關聯約負 24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0A425-1D5A-4DA8-BA86-BAF0062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屬統計關聯，不能推論因果。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D67C0-4A00-4035-A167-F917D1CF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政策焦點：設計清楚的裝置使用時機、任務目的與可見成果。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74B31-B438-47E2-95C0-E961B4C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百分比與分數關聯使用不同單位，圖表只作並列，不作同尺度比較</a:t>
            </a:r>
          </a:p>
        </p:txBody>
      </p:sp>
    </p:spTree>
    <p:extLst>
      <p:ext uri="{BB962C8B-B14F-4D97-AF65-F5344CB8AC3E}">
        <p14:creationId xmlns:p14="http://schemas.microsoft.com/office/powerpoint/2010/main" val="1761031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3DBAE-A28A-439D-9BD4-E5933AC0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P1–S6 共同能力進階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CF9AD-D9DE-4F20-BE87-10175E20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2E75C-55B1-4C31-8755-55201E43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P1–P3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6FE21-4420-4CEE-8C8F-387E9DA8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找出明示資料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用圖像或實物解釋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跟隨步驟解決熟悉問題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79306-7286-4E02-A727-F9CE968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28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P4–P6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D16FA-302A-453C-81F5-4425AC37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002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比較兩個來源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用數據支持推論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檢查答案是否合理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118F3-8711-43D1-B043-2DA211C6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28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S1–S3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115A5-94DB-4218-AE1A-35DF7887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整合多來源證據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建模及測試方案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辨識偏差與不確定性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8013B-544E-4349-89F0-F4AAD851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28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S4–S6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7FD7C-84B2-4689-887A-AF58DB51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評估證據品質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處理真實情境問題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公開解釋並修正方案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DBF83-244F-4B2C-AECC-DD9F644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共同證據要求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FDD47-98AF-43B6-82D9-143A65DD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學生作品需呈現資料來源、推理過程、使用工具的方法，以及對結論限制的說明。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C4C8C-B57C-4F9B-A266-D8A20DEE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進階描述供各科組轉化為科本任務與評核準則</a:t>
            </a:r>
          </a:p>
        </p:txBody>
      </p:sp>
    </p:spTree>
    <p:extLst>
      <p:ext uri="{BB962C8B-B14F-4D97-AF65-F5344CB8AC3E}">
        <p14:creationId xmlns:p14="http://schemas.microsoft.com/office/powerpoint/2010/main" val="17727616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153AB-50FC-413F-9EAC-268C5BBC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校本課程審計鏈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05269-66E9-4554-9F30-2E2D697C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2A618-2D52-4B97-B1FA-97C8CABE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1  課程意圖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C58E7-371E-4687-8AF2-F38ECABF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年級目標是否明確寫出閱讀、推理、解難與 AI 驗證？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3F312-06E6-424D-8235-51478852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28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2  學習任務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F0AF8-CCBA-4E06-AFA1-6A9C8C77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學生是否需要處理多來源材料、數據和真實情境？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1ED50-8EBB-4645-BF99-33B32905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28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3  評核證據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80B06-5672-415F-9FD1-772340CF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評分準則是否看見證據、推理、修正與限制？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8EEA9-AC59-436D-8D63-68A9698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4  學生作品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4F4CA-A8E5-4574-89FF-19D6F3B0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實際作品是否證明學生能獨立完成，而非只完成答案？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D0300-6FA6-4796-BBDD-B459B4A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審計結果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D0CCF-FF13-4468-AB36-24EA4817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666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未出現：沒有可見證據</a:t>
            </a:r>
          </a:p>
          <a:p xmlns:a="http://schemas.openxmlformats.org/drawingml/2006/main">
            <a:pPr>
              <a:defRPr sz="157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部分出現：只在少數單元或班級</a:t>
            </a:r>
          </a:p>
          <a:p xmlns:a="http://schemas.openxmlformats.org/drawingml/2006/main">
            <a:pPr>
              <a:defRPr sz="157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穩定出現：跨單元、跨班級並有學生作品支持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6DAE2-1EDB-4665-87E1-F0B2095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每項判斷需附課程文件、任務、評分準則或學生作品。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76F57-C8B9-4334-9926-4F47D8D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配套工作簿已把審計鏈轉化為可填寫欄位及自動統計</a:t>
            </a:r>
          </a:p>
        </p:txBody>
      </p:sp>
    </p:spTree>
    <p:extLst>
      <p:ext uri="{BB962C8B-B14F-4D97-AF65-F5344CB8AC3E}">
        <p14:creationId xmlns:p14="http://schemas.microsoft.com/office/powerpoint/2010/main" val="2091312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F437A-9AAD-499C-AAB3-C136D4A0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12 個月推進節點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18775-FFBC-445D-815D-CF136864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63F53-C145-4447-942F-BFB0A410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第 1–2 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932F9-61CF-4469-8DF2-8B9A03D7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確認共同能力進階與審計準則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選定試點年級和科組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8E8C8-8FAF-4984-9073-0F72F3EB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28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第 3–5 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DAE8B-C110-4175-B83D-5094C5B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00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完成首輪課程審計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蒐集代表性任務與學生作品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09908-3913-4C95-BA44-190447D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28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第 6–9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F48B2-93A8-4C34-B7C3-968554AA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重設單元與評核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同儕觀課及共同備課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A1D4F-C9C2-4B38-A042-4BDB9E8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28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第 10–12 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A6EFB-8091-4BA0-B9ED-EE9CB659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檢視學生作品與指標</a:t>
            </a:r>
          </a:p>
          <a:p xmlns:a="http://schemas.openxmlformats.org/drawingml/2006/main">
            <a:pPr>
              <a:def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調整下一學年課程文件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5BAB6-D176-4D81-A4C8-CA9C327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監測指標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F3419-B321-430B-B36C-EB3A01C1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課程覆蓋率　任務品質　學生作品達標率　閱讀低表現學生比例　數學差距　AI 驗證表現　學習投入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B3A5D-7A13-4AE2-A3F8-E42AFF62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先用校內可取得證據建立基線，再設定可核實的年度目標</a:t>
            </a:r>
          </a:p>
        </p:txBody>
      </p:sp>
    </p:spTree>
    <p:extLst>
      <p:ext uri="{BB962C8B-B14F-4D97-AF65-F5344CB8AC3E}">
        <p14:creationId xmlns:p14="http://schemas.microsoft.com/office/powerpoint/2010/main" val="2010719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5DDF9-9ACD-4668-8B7B-0623B8C5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行政會議決議事項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BF61-F652-4A18-80D7-E22A0E78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B1883-1797-4FE3-8E4E-8F4A65C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6A8D"/>
                </a:solidFill>
                <a:latin typeface="Microsoft JhengHei"/>
                <a:ea typeface="Microsoft JhengHei"/>
                <a:cs typeface="Microsoft JhengHei"/>
              </a:rPr>
              <a:t>一　改革範圍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44677-6F6F-4CE6-B641-C08C10F6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確認跨學科閱讀、證據推理、解難與 AI 驗證為全校共同能力。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A2B71-703F-44F0-AA8D-E697F3A6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7C69"/>
                </a:solidFill>
                <a:latin typeface="Microsoft JhengHei"/>
                <a:ea typeface="Microsoft JhengHei"/>
                <a:cs typeface="Microsoft JhengHei"/>
              </a:rPr>
              <a:t>二　治理安排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BC191-E861-428B-8313-07B7830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指定行政牽頭人及 P1–S6 科組代表，建立月度檢視和學生作品抽樣機制。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C2CF-7903-4322-A86B-C4C6F739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66A3A"/>
                </a:solidFill>
                <a:latin typeface="Microsoft JhengHei"/>
                <a:ea typeface="Microsoft JhengHei"/>
                <a:cs typeface="Microsoft JhengHei"/>
              </a:rPr>
              <a:t>三　首輪行動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396B3-DFD9-464F-BDDD-57433C84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2304A"/>
                </a:solidFill>
                <a:latin typeface="Microsoft JhengHei"/>
                <a:ea typeface="Microsoft JhengHei"/>
                <a:cs typeface="Microsoft JhengHei"/>
              </a:rPr>
              <a:t>本學期完成基線審計，選定兩個年級段試點，於學期末提交課程修訂與學生作品證據。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7EB85-32F5-4E5F-8F2F-F01DB31F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947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94747"/>
                </a:solidFill>
                <a:latin typeface="Microsoft JhengHei"/>
                <a:ea typeface="Microsoft JhengHei"/>
                <a:cs typeface="Microsoft JhengHei"/>
              </a:rPr>
              <a:t>建議決議文字：行政會議同意啟動 12 個月校本課程改革週期，並以配套審計表追蹤。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AEA41-AA33-4813-B9F9-85F16B89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D6872"/>
                </a:solidFill>
                <a:latin typeface="Microsoft JhengHei"/>
                <a:ea typeface="Microsoft JhengHei"/>
                <a:cs typeface="Microsoft JhengHei"/>
              </a:rPr>
              <a:t>下一步：確認負責人、時限及首輪試點名單</a:t>
            </a:r>
          </a:p>
        </p:txBody>
      </p:sp>
    </p:spTree>
    <p:extLst>
      <p:ext uri="{BB962C8B-B14F-4D97-AF65-F5344CB8AC3E}">
        <p14:creationId xmlns:p14="http://schemas.microsoft.com/office/powerpoint/2010/main" val="1813151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2026-09-10T23:21:43.5240000Z</dcterms:created>
  <dcterms:modified xsi:type="dcterms:W3CDTF">2026-09-10T23:21:43.5240000Z</dcterms:modified>
</coreProperties>
</file>